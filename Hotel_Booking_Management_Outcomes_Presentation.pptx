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15663"/>
          </a:xfrm>
          <a:prstGeom prst="rect">
            <a:avLst/>
          </a:prstGeom>
          <a:solidFill>
            <a:srgbClr val="1C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59792" y="2537341"/>
            <a:ext cx="747211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C3452"/>
                </a:solidFill>
              </a:defRPr>
            </a:pPr>
            <a:r>
              <a:rPr sz="6000" dirty="0"/>
              <a:t>Hotel Booking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9067" y="3641494"/>
            <a:ext cx="508921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76092"/>
                </a:solidFill>
              </a:defRPr>
            </a:pPr>
            <a:r>
              <a:rPr dirty="0"/>
              <a:t>Management Outcome &amp; Business Insights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CDBA65-8832-9D50-B1F5-910E0A70412D}"/>
              </a:ext>
            </a:extLst>
          </p:cNvPr>
          <p:cNvSpPr/>
          <p:nvPr/>
        </p:nvSpPr>
        <p:spPr>
          <a:xfrm>
            <a:off x="-1" y="5842337"/>
            <a:ext cx="12192001" cy="1015663"/>
          </a:xfrm>
          <a:prstGeom prst="rect">
            <a:avLst/>
          </a:prstGeom>
          <a:solidFill>
            <a:srgbClr val="1C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0D8EBA-9444-7F39-C6EB-51E1701FB4CE}"/>
              </a:ext>
            </a:extLst>
          </p:cNvPr>
          <p:cNvSpPr txBox="1"/>
          <p:nvPr/>
        </p:nvSpPr>
        <p:spPr>
          <a:xfrm>
            <a:off x="609601" y="580104"/>
            <a:ext cx="933081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tx2"/>
                </a:solidFill>
              </a:rPr>
              <a:t>Problem:</a:t>
            </a:r>
          </a:p>
          <a:p>
            <a:pPr lvl="0"/>
            <a:endParaRPr lang="en-US" sz="2800" b="1" dirty="0"/>
          </a:p>
          <a:p>
            <a:pPr lvl="0"/>
            <a:r>
              <a:rPr lang="en-US" dirty="0"/>
              <a:t>Hotel booking cancellations can affect occupancy and revenue planning, and management needs to understand the patterns and factors associated with cancellations.</a:t>
            </a:r>
          </a:p>
          <a:p>
            <a:pPr lvl="0"/>
            <a:endParaRPr lang="en-US" sz="2400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tx2"/>
                </a:solidFill>
              </a:rPr>
              <a:t>Problem Definition:</a:t>
            </a:r>
          </a:p>
          <a:p>
            <a:pPr>
              <a:buNone/>
            </a:pPr>
            <a:endParaRPr lang="en-US" sz="2000" b="1" dirty="0"/>
          </a:p>
          <a:p>
            <a:r>
              <a:rPr lang="en-US" sz="2000" dirty="0"/>
              <a:t>Analyze hotel booking data to identify cancellation patterns, understand the factors associated with cancellations, and measure the estimated revenue exposure from canceled bookings Records: 119,390 bookings 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tx2"/>
                </a:solidFill>
              </a:rPr>
              <a:t>Objective</a:t>
            </a:r>
          </a:p>
          <a:p>
            <a:pPr>
              <a:buNone/>
            </a:pPr>
            <a:endParaRPr lang="en-US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Analyze overall booking and cancellation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Identify key cancellation patterns and factors.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Calculate estimated revenue and revenue at risk. </a:t>
            </a:r>
          </a:p>
        </p:txBody>
      </p:sp>
    </p:spTree>
    <p:extLst>
      <p:ext uri="{BB962C8B-B14F-4D97-AF65-F5344CB8AC3E}">
        <p14:creationId xmlns:p14="http://schemas.microsoft.com/office/powerpoint/2010/main" val="3461381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300082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452"/>
                </a:solidFill>
              </a:defRPr>
            </a:pPr>
            <a:r>
              <a:rPr dirty="0"/>
              <a:t>Executive </a:t>
            </a:r>
            <a:r>
              <a:rPr dirty="0">
                <a:solidFill>
                  <a:schemeClr val="tx2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</a:defRPr>
            </a:pPr>
            <a:r>
              <a:t>Key outcomes from the hotel booking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214884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19"/>
            <a:ext cx="1874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TOTAL BOOKINGS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874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86,635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8592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rPr dirty="0"/>
              <a:t>Cleaned analytical booking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280160"/>
            <a:ext cx="214884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1417319"/>
            <a:ext cx="1874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CANCELLATION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783080"/>
            <a:ext cx="1874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27.69%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331720"/>
            <a:ext cx="18745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t>Approximately 24K bookings canceled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280160"/>
            <a:ext cx="214884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0" y="1417319"/>
            <a:ext cx="1874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ESTIMATED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783080"/>
            <a:ext cx="1874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34.28M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331720"/>
            <a:ext cx="176587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t>Estimated booking revenue in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280160"/>
            <a:ext cx="214884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1417319"/>
            <a:ext cx="1874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REVENUE AT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783080"/>
            <a:ext cx="1874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11.41M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331720"/>
            <a:ext cx="158496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rPr dirty="0"/>
              <a:t>Estimated exposure associated with canceled bookings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1280160"/>
            <a:ext cx="182880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1417319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REPEAT GUESTS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178308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3.63%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331720"/>
            <a:ext cx="13922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rPr dirty="0"/>
              <a:t>Share of bookings from repeat guests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33756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t>Cancellation exposure is a major management metric, with 27.69% of bookings canceled.</a:t>
            </a:r>
          </a:p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t>Longer lead-time bookings show substantially higher observed cancellation rates.</a:t>
            </a:r>
          </a:p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t>City Hotel has the larger booking volume and revenue exposure.</a:t>
            </a:r>
          </a:p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t>The dashboard provides an interactive way to monitor these outcomes by hotel, segment and customer dimensions.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C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452"/>
                </a:solidFill>
              </a:defRPr>
            </a:pPr>
            <a:r>
              <a:t>Booking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</a:defRPr>
            </a:pPr>
            <a:r>
              <a:t>Where booking volume is concentrated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01752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CITY HOTEL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~53K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t>Larger share of total bookings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234440"/>
            <a:ext cx="301752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3716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RESORT HOTEL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373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~33K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28600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t>Lower booking volume than City Hotel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234440"/>
            <a:ext cx="301752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80" y="13716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PEAK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17373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AUGUST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228600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t>Approximately 11K bookings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375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323"/>
                </a:solidFill>
              </a:defRPr>
            </a:pPr>
            <a:r>
              <a:t>City Hotel accounts for the larger share of bookings, approximately 53K compared with approximately 33K for Resort Hotel.</a:t>
            </a:r>
          </a:p>
          <a:p>
            <a:pPr>
              <a:spcAft>
                <a:spcPts val="1100"/>
              </a:spcAft>
              <a:defRPr sz="1800">
                <a:solidFill>
                  <a:srgbClr val="232323"/>
                </a:solidFill>
              </a:defRPr>
            </a:pPr>
            <a:r>
              <a:t>Booking volume reaches its observed peak around August at roughly 11K bookings.</a:t>
            </a:r>
          </a:p>
          <a:p>
            <a:pPr>
              <a:spcAft>
                <a:spcPts val="1100"/>
              </a:spcAft>
              <a:defRPr sz="1800">
                <a:solidFill>
                  <a:srgbClr val="232323"/>
                </a:solidFill>
              </a:defRPr>
            </a:pPr>
            <a:r>
              <a:t>Online Travel Agents / Tour Operators (TA/TO) are the dominant booking channel/segment by volume.</a:t>
            </a:r>
          </a:p>
          <a:p>
            <a:pPr>
              <a:spcAft>
                <a:spcPts val="1100"/>
              </a:spcAft>
              <a:defRPr sz="1800">
                <a:solidFill>
                  <a:srgbClr val="232323"/>
                </a:solidFill>
              </a:defRPr>
            </a:pPr>
            <a:r>
              <a:t>Management can use hotel and monthly filters to monitor demand concentration.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C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452"/>
                </a:solidFill>
              </a:defRPr>
            </a:pPr>
            <a:r>
              <a:t>Cancellation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</a:defRPr>
            </a:pPr>
            <a:r>
              <a:t>Where cancellations are concentrated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42316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OVERALL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27.69%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t>Share of bookings canceled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234440"/>
            <a:ext cx="242316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79" y="1371600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90+ DAY LEAD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737360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~37%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228600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t>Observed cancellation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234440"/>
            <a:ext cx="242316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0" y="1371600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0–7 DAY LEAD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737360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~8%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28600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t>Observed cancellation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1234440"/>
            <a:ext cx="274320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13716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CITY HOTEL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73736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~30%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286000"/>
            <a:ext cx="24688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t>Observed cancellation rate vs ~24% Resort Hotel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461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t>The 90+ day lead-time group has an observed cancellation rate of approximately 37%, compared with approximately 8% for 0–7 day bookings.</a:t>
            </a:r>
          </a:p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t>City Hotel shows a higher cancellation rate than Resort Hotel, approximately 30% versus 24%.</a:t>
            </a:r>
          </a:p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t>The cancellation trend reaches roughly 32% around August before declining later in the displayed period.</a:t>
            </a:r>
          </a:p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t>These are historical descriptive patterns; they indicate association, not causation.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C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452"/>
                </a:solidFill>
              </a:defRPr>
            </a:pPr>
            <a:r>
              <a:t>Revenue &amp; Financial Exposure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</a:defRPr>
            </a:pPr>
            <a:r>
              <a:t>Revenue contribution and cancellation exposure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56032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ESTIMATED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34.28M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t>Total estimated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234440"/>
            <a:ext cx="256032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371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REVENUE AT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737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11.41M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86000"/>
            <a:ext cx="1920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t>Estimated revenue associated with canceled bookings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256032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371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CITY HOTEL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37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~18.8M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8600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t>Larger estimated revenue contribution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234440"/>
            <a:ext cx="256032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RESORT HOTEL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737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~15.5M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8600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t>Estimated revenue 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t>City Hotel contributes the larger estimated revenue amount and also has the larger revenue-at-risk exposure.</a:t>
            </a:r>
          </a:p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t>City Hotel revenue at risk is approximately 6.6M versus approximately 4.8M for Resort Hotel.</a:t>
            </a:r>
          </a:p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t>Average ADR is approximately 110 for City Hotel and approximately 98 for Resort Hotel.</a:t>
            </a:r>
          </a:p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t>Revenue-at-risk should be monitored alongside cancellation rate rather than as a standalone metric.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C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452"/>
                </a:solidFill>
              </a:defRPr>
            </a:pPr>
            <a:r>
              <a:t>Customer &amp; Operational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</a:defRPr>
            </a:pPr>
            <a:r>
              <a:t>Customer mix and booking behavior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37744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AVG. GUESTS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2.03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t>Average guests per booking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234440"/>
            <a:ext cx="237744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3716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AVG. LEAD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73736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80.29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2860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t>Average advance booking period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234440"/>
            <a:ext cx="237744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0" y="13716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AVG. STAY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73736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3.65 nights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2860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t>Average length of stay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234440"/>
            <a:ext cx="237744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9640" y="13716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5F5F"/>
                </a:solidFill>
              </a:defRPr>
            </a:pPr>
            <a:r>
              <a:t>REPEAT GUESTS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173736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52"/>
                </a:solidFill>
              </a:defRPr>
            </a:pPr>
            <a:r>
              <a:t>3.63%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860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323"/>
                </a:solidFill>
              </a:defRPr>
            </a:pPr>
            <a:r>
              <a:t>Share of repeat-guest bookings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461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t>Transient customers represent the largest customer-type booking volume.</a:t>
            </a:r>
          </a:p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t>Room Type A is the dominant reserved room category.</a:t>
            </a:r>
          </a:p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t>TA/TO contributes the majority of bookings.</a:t>
            </a:r>
          </a:p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t>Portugal is the largest booking-origin country in the displayed top-country analysis, followed by the United Kingdom and France.</a:t>
            </a:r>
          </a:p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t>Bookings with zero special requests form the largest special-request group.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C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452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</a:defRPr>
            </a:pPr>
            <a:r>
              <a:t>Actions suggested by the observed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323"/>
                </a:solidFill>
              </a:defRPr>
            </a:pPr>
            <a:r>
              <a:t>1. Monitor cancellation rate and revenue at risk as recurring management KPIs.</a:t>
            </a:r>
          </a:p>
          <a:p>
            <a:pPr>
              <a:spcAft>
                <a:spcPts val="1100"/>
              </a:spcAft>
              <a:defRPr sz="1800">
                <a:solidFill>
                  <a:srgbClr val="232323"/>
                </a:solidFill>
              </a:defRPr>
            </a:pPr>
            <a:r>
              <a:t>2. Review cancellation policies and controls for long-lead-time bookings.</a:t>
            </a:r>
          </a:p>
          <a:p>
            <a:pPr>
              <a:spcAft>
                <a:spcPts val="1100"/>
              </a:spcAft>
              <a:defRPr sz="1800">
                <a:solidFill>
                  <a:srgbClr val="232323"/>
                </a:solidFill>
              </a:defRPr>
            </a:pPr>
            <a:r>
              <a:t>3. Track City Hotel cancellation exposure separately because of its larger booking and revenue base.</a:t>
            </a:r>
          </a:p>
          <a:p>
            <a:pPr>
              <a:spcAft>
                <a:spcPts val="1100"/>
              </a:spcAft>
              <a:defRPr sz="1800">
                <a:solidFill>
                  <a:srgbClr val="232323"/>
                </a:solidFill>
              </a:defRPr>
            </a:pPr>
            <a:r>
              <a:t>4. Monitor the TA/TO channel closely because it contributes the largest booking volume.</a:t>
            </a:r>
          </a:p>
          <a:p>
            <a:pPr>
              <a:spcAft>
                <a:spcPts val="1100"/>
              </a:spcAft>
              <a:defRPr sz="1800">
                <a:solidFill>
                  <a:srgbClr val="232323"/>
                </a:solidFill>
              </a:defRPr>
            </a:pPr>
            <a:r>
              <a:t>5. Use customer and country analysis to support targeted retention and demand-planning activities.</a:t>
            </a:r>
          </a:p>
          <a:p>
            <a:pPr>
              <a:spcAft>
                <a:spcPts val="1100"/>
              </a:spcAft>
              <a:defRPr sz="1800">
                <a:solidFill>
                  <a:srgbClr val="232323"/>
                </a:solidFill>
              </a:defRPr>
            </a:pPr>
            <a:r>
              <a:t>6. Review ADR, stay duration and booking volume together when evaluating hotel performance.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C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452"/>
                </a:solidFill>
              </a:defRPr>
            </a:pPr>
            <a:r>
              <a:t>Final Management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The analysis shows a substantial cancellation exposure alongside a meaningful estimated revenue-at-risk amount.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Cancellation risk is notably higher among long-lead-time bookings in the observed data.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City Hotel is the larger booking and revenue contributor, but also carries the larger cancellation exposure.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Management should monitor cancellation and revenue-at-risk KPIs regularly and investigate high-risk booking segments.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The dashboard provides the required visibility to track these outcomes and drill down when performance changes.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C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40283" y="1328329"/>
            <a:ext cx="348095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452"/>
                </a:solidFill>
              </a:defRPr>
            </a:pPr>
            <a:r>
              <a:rPr sz="6000" dirty="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C3452"/>
                </a:solidFill>
              </a:defRPr>
            </a:pPr>
            <a:r>
              <a:t>Hotel Booking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376092"/>
                </a:solidFill>
              </a:defRPr>
            </a:pPr>
            <a:r>
              <a:rPr dirty="0"/>
              <a:t>Management Outcomes • Business Insights •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C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808</Words>
  <Application>Microsoft Office PowerPoint</Application>
  <PresentationFormat>Widescreen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VIKRAM K.S.K</cp:lastModifiedBy>
  <cp:revision>3</cp:revision>
  <dcterms:created xsi:type="dcterms:W3CDTF">2013-01-27T09:14:16Z</dcterms:created>
  <dcterms:modified xsi:type="dcterms:W3CDTF">2026-09-24T08:31:25Z</dcterms:modified>
  <cp:category/>
</cp:coreProperties>
</file>